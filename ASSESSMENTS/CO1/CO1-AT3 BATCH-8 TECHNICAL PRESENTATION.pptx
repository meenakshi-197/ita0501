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76EB9D5-7E1A-4433-8B21-2237CC26FA2C}" type="datetimeFigureOut">
              <a:rPr lang="en-US" dirty="0"/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F837-FEDB-44F2-8FB5-4F56FC548A3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345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EC2AB55-62C0-407E-B706-C907B44B0BF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B33F-FEF5-4E73-A5F9-307689FE77C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FA4-F0B8-4D71-BC92-932E3A1502F8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9F80-C2CE-4D6A-80E4-D3515AD92BC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0E-EF40-477E-B84C-637FC7CE78DB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8D63-E026-4E54-B301-C824E1BD14F3}" type="datetimeFigureOut">
              <a:rPr lang="en-US" dirty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C423185-9573-406A-8068-0AB4F2335019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8A19-B9D6-4696-A74D-9FEF900C8B6A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5100-39B0-4914-BBD6-34F26758256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5516DA-9D86-4E1E-A623-C11F9F74E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76" y="1860630"/>
            <a:ext cx="9070848" cy="1315190"/>
          </a:xfrm>
        </p:spPr>
        <p:txBody>
          <a:bodyPr/>
          <a:lstStyle/>
          <a:p>
            <a:r>
              <a:rPr lang="en-IN" sz="3200" b="1" dirty="0"/>
              <a:t>Augmented Reality Using Computer Vision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786718" y="2930013"/>
            <a:ext cx="9070848" cy="248756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Venna Meenakshi Reddy(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K.Varshini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(192472358)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S.Amulya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192321044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Anaikumar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Sreenithi Ramesh Kumar (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192412112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409786"/>
            <a:ext cx="11041626" cy="5487819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2800" b="1" dirty="0"/>
              <a:t>What is Augmented Reality (AR)?</a:t>
            </a:r>
            <a:endParaRPr lang="en-IN" sz="2800" b="1" dirty="0"/>
          </a:p>
          <a:p>
            <a:pPr lvl="0">
              <a:lnSpc>
                <a:spcPct val="170000"/>
              </a:lnSpc>
            </a:pPr>
            <a:r>
              <a:rPr lang="en-IN" dirty="0"/>
              <a:t>Augmented Reality is a technology that </a:t>
            </a:r>
            <a:r>
              <a:rPr lang="en-IN" b="1" dirty="0"/>
              <a:t>adds digital content to the real-world environment</a:t>
            </a:r>
            <a:r>
              <a:rPr lang="en-IN" dirty="0"/>
              <a:t>. </a:t>
            </a:r>
            <a:endParaRPr lang="en-IN" dirty="0"/>
          </a:p>
          <a:p>
            <a:pPr lvl="0">
              <a:lnSpc>
                <a:spcPct val="170000"/>
              </a:lnSpc>
            </a:pPr>
            <a:r>
              <a:rPr lang="en-IN" dirty="0"/>
              <a:t>It uses a camera and sensors to understand the surrounding environment. </a:t>
            </a:r>
            <a:endParaRPr lang="en-IN" dirty="0"/>
          </a:p>
          <a:p>
            <a:pPr lvl="0">
              <a:lnSpc>
                <a:spcPct val="170000"/>
              </a:lnSpc>
            </a:pPr>
            <a:r>
              <a:rPr lang="en-IN" dirty="0"/>
              <a:t>Virtual objects, text, images, or information are displayed over the real-world view. </a:t>
            </a:r>
            <a:endParaRPr lang="en-IN" dirty="0"/>
          </a:p>
          <a:p>
            <a:pPr lvl="0">
              <a:lnSpc>
                <a:spcPct val="170000"/>
              </a:lnSpc>
            </a:pPr>
            <a:r>
              <a:rPr lang="en-IN" dirty="0"/>
              <a:t>Example: </a:t>
            </a:r>
            <a:r>
              <a:rPr lang="en-IN" b="1" dirty="0"/>
              <a:t>AR furniture apps, Snapchat filters, Google Maps Live View, AR games.</a:t>
            </a:r>
            <a:r>
              <a:rPr lang="en-IN" dirty="0"/>
              <a:t> </a:t>
            </a:r>
            <a:endParaRPr lang="en-IN" dirty="0"/>
          </a:p>
          <a:p>
            <a:pPr marL="0" indent="0">
              <a:lnSpc>
                <a:spcPct val="170000"/>
              </a:lnSpc>
              <a:buNone/>
            </a:pPr>
            <a:r>
              <a:rPr lang="en-IN" sz="2400" b="1" dirty="0"/>
              <a:t>What is Computer Vision?</a:t>
            </a:r>
            <a:endParaRPr lang="en-IN" sz="2400" dirty="0"/>
          </a:p>
          <a:p>
            <a:pPr lvl="0">
              <a:lnSpc>
                <a:spcPct val="170000"/>
              </a:lnSpc>
            </a:pPr>
            <a:r>
              <a:rPr lang="en-IN" dirty="0"/>
              <a:t>Computer Vision is a field of AI that enables computers to </a:t>
            </a:r>
            <a:r>
              <a:rPr lang="en-IN" b="1" dirty="0"/>
              <a:t>understand and interpret images and videos</a:t>
            </a:r>
            <a:r>
              <a:rPr lang="en-IN" dirty="0"/>
              <a:t>. </a:t>
            </a:r>
            <a:endParaRPr lang="en-IN" dirty="0"/>
          </a:p>
          <a:p>
            <a:pPr lvl="0">
              <a:lnSpc>
                <a:spcPct val="170000"/>
              </a:lnSpc>
            </a:pPr>
            <a:r>
              <a:rPr lang="en-IN" dirty="0"/>
              <a:t>It can detect </a:t>
            </a:r>
            <a:r>
              <a:rPr lang="en-IN" b="1" dirty="0"/>
              <a:t>objects, features, corners, movements, and patterns</a:t>
            </a:r>
            <a:r>
              <a:rPr lang="en-IN" dirty="0"/>
              <a:t> in a scene. </a:t>
            </a:r>
            <a:endParaRPr lang="en-IN" dirty="0"/>
          </a:p>
          <a:p>
            <a:pPr lvl="0">
              <a:lnSpc>
                <a:spcPct val="170000"/>
              </a:lnSpc>
            </a:pPr>
            <a:r>
              <a:rPr lang="en-IN" dirty="0"/>
              <a:t>In AR, computer vision helps the system understand the real environment and determine </a:t>
            </a:r>
            <a:r>
              <a:rPr lang="en-IN" b="1" dirty="0"/>
              <a:t>where and how virtual content should be placed</a:t>
            </a:r>
            <a:r>
              <a:rPr lang="en-IN" dirty="0"/>
              <a:t>.</a:t>
            </a:r>
            <a:endParaRPr lang="en-IN" dirty="0"/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8763635" y="1789430"/>
            <a:ext cx="2931160" cy="2608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16" y="642594"/>
            <a:ext cx="10547684" cy="812580"/>
          </a:xfrm>
        </p:spPr>
        <p:txBody>
          <a:bodyPr>
            <a:normAutofit/>
          </a:bodyPr>
          <a:lstStyle/>
          <a:p>
            <a:r>
              <a:rPr lang="en-IN" sz="4000" b="1" dirty="0"/>
              <a:t>(a) Image Preprocessing &amp; Feature Detection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47" y="1592826"/>
            <a:ext cx="10860505" cy="4304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Image Preprocessing and Feature Detection in AR</a:t>
            </a:r>
            <a:endParaRPr lang="en-IN" sz="2000" b="1" dirty="0"/>
          </a:p>
          <a:p>
            <a:pPr lvl="0"/>
            <a:r>
              <a:rPr lang="en-IN" sz="2000" dirty="0"/>
              <a:t>Computer vision first captures the real-world scene using a camera. </a:t>
            </a:r>
            <a:endParaRPr lang="en-IN" sz="2000" dirty="0"/>
          </a:p>
          <a:p>
            <a:pPr lvl="0"/>
            <a:r>
              <a:rPr lang="en-IN" sz="2000" b="1" dirty="0"/>
              <a:t>Image preprocessing</a:t>
            </a:r>
            <a:r>
              <a:rPr lang="en-IN" sz="2000" dirty="0"/>
              <a:t> improves the quality of the captured image. </a:t>
            </a:r>
            <a:endParaRPr lang="en-IN" sz="2000" dirty="0"/>
          </a:p>
          <a:p>
            <a:pPr lvl="0"/>
            <a:r>
              <a:rPr lang="en-IN" sz="2000" dirty="0"/>
              <a:t>Common preprocessing techniques: </a:t>
            </a:r>
            <a:endParaRPr lang="en-IN" sz="2000" dirty="0"/>
          </a:p>
          <a:p>
            <a:pPr lvl="1"/>
            <a:r>
              <a:rPr lang="en-IN" sz="2000" dirty="0"/>
              <a:t>Grayscale conversion </a:t>
            </a:r>
            <a:endParaRPr lang="en-IN" sz="2000" dirty="0"/>
          </a:p>
          <a:p>
            <a:pPr lvl="1"/>
            <a:r>
              <a:rPr lang="en-IN" sz="2000" dirty="0"/>
              <a:t>Noise removal </a:t>
            </a:r>
            <a:endParaRPr lang="en-IN" sz="2000" dirty="0"/>
          </a:p>
          <a:p>
            <a:pPr lvl="1"/>
            <a:r>
              <a:rPr lang="en-IN" sz="2000" dirty="0"/>
              <a:t>Image resizing </a:t>
            </a:r>
            <a:endParaRPr lang="en-IN" sz="2000" dirty="0"/>
          </a:p>
          <a:p>
            <a:pPr lvl="1"/>
            <a:r>
              <a:rPr lang="en-IN" sz="2000" dirty="0"/>
              <a:t>Contrast enhancement </a:t>
            </a:r>
            <a:endParaRPr lang="en-IN" sz="2000" dirty="0"/>
          </a:p>
          <a:p>
            <a:pPr lvl="0"/>
            <a:r>
              <a:rPr lang="en-IN" sz="2000" b="1" dirty="0"/>
              <a:t>Feature detection</a:t>
            </a:r>
            <a:r>
              <a:rPr lang="en-IN" sz="2000" dirty="0"/>
              <a:t> identifies important visual patterns in the environment. </a:t>
            </a:r>
            <a:endParaRPr lang="en-IN" sz="2000" dirty="0"/>
          </a:p>
          <a:p>
            <a:pPr lvl="0"/>
            <a:r>
              <a:rPr lang="en-IN" sz="2000" dirty="0"/>
              <a:t>Features help the AR system understand where virtual content should be placed. 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An AR furniture application detects the floor, walls, and important points before placing a virtual sofa.</a:t>
            </a:r>
            <a:endParaRPr lang="en-IN" sz="2000" dirty="0"/>
          </a:p>
          <a:p>
            <a:pPr>
              <a:lnSpc>
                <a:spcPct val="160000"/>
              </a:lnSpc>
            </a:pP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71" y="688257"/>
            <a:ext cx="10972799" cy="55257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Corner Detection for Identifying Important Points</a:t>
            </a:r>
            <a:endParaRPr lang="en-IN" sz="3600" b="1" dirty="0"/>
          </a:p>
          <a:p>
            <a:pPr lvl="0"/>
            <a:r>
              <a:rPr lang="en-IN" sz="2400" dirty="0"/>
              <a:t>Corners are points where image intensity changes significantly in different directions. </a:t>
            </a:r>
            <a:endParaRPr lang="en-IN" sz="2400" dirty="0"/>
          </a:p>
          <a:p>
            <a:pPr lvl="0"/>
            <a:r>
              <a:rPr lang="en-IN" sz="2400" dirty="0"/>
              <a:t>They are useful because they are usually stable and easy to recognize. </a:t>
            </a:r>
            <a:endParaRPr lang="en-IN" sz="2400" dirty="0"/>
          </a:p>
          <a:p>
            <a:pPr lvl="0"/>
            <a:r>
              <a:rPr lang="en-IN" sz="2400" dirty="0"/>
              <a:t>Common corner detection methods: </a:t>
            </a:r>
            <a:endParaRPr lang="en-IN" sz="2400" dirty="0"/>
          </a:p>
          <a:p>
            <a:pPr marL="731520" lvl="1" indent="-457200">
              <a:buFont typeface="+mj-lt"/>
              <a:buAutoNum type="arabicPeriod"/>
            </a:pPr>
            <a:r>
              <a:rPr lang="en-IN" sz="2400" dirty="0"/>
              <a:t>Harris Corner Detection </a:t>
            </a:r>
            <a:endParaRPr lang="en-IN" sz="2400" dirty="0"/>
          </a:p>
          <a:p>
            <a:pPr marL="731520" lvl="1" indent="-457200">
              <a:buFont typeface="+mj-lt"/>
              <a:buAutoNum type="arabicPeriod"/>
            </a:pPr>
            <a:r>
              <a:rPr lang="en-IN" sz="2400" dirty="0"/>
              <a:t>Shi-Tomasi Corner Detection </a:t>
            </a:r>
            <a:endParaRPr lang="en-IN" sz="2400" dirty="0"/>
          </a:p>
          <a:p>
            <a:pPr lvl="0"/>
            <a:r>
              <a:rPr lang="en-IN" sz="2400" dirty="0"/>
              <a:t>Detected corners can be used as reference points for AR tracking. </a:t>
            </a:r>
            <a:endParaRPr lang="en-IN" sz="2400" dirty="0"/>
          </a:p>
          <a:p>
            <a:pPr lvl="0"/>
            <a:r>
              <a:rPr lang="en-IN" sz="2400" dirty="0"/>
              <a:t>OpenCV provides functions for detecting and processing these points. 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Flow: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Camera Image → Preprocessing → Corner Detection → Important Points → AR Reference</a:t>
            </a:r>
            <a:endParaRPr lang="en-IN" sz="2400" dirty="0"/>
          </a:p>
          <a:p>
            <a:pPr marL="0" indent="0">
              <a:buNone/>
            </a:pPr>
            <a:endParaRPr lang="en-IN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735" y="1327354"/>
            <a:ext cx="10402529" cy="43930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/>
              <a:t>Scale-Invariant Feature Detection</a:t>
            </a:r>
            <a:endParaRPr lang="en-IN" sz="2800" b="1" dirty="0"/>
          </a:p>
          <a:p>
            <a:pPr marL="0" indent="0">
              <a:buNone/>
            </a:pPr>
            <a:r>
              <a:rPr lang="en-IN" sz="2000" b="1" dirty="0"/>
              <a:t>Recognizing Objects at Different Scales</a:t>
            </a:r>
            <a:endParaRPr lang="en-IN" sz="2000" b="1" dirty="0"/>
          </a:p>
          <a:p>
            <a:pPr lvl="0"/>
            <a:r>
              <a:rPr lang="en-IN" sz="2000" dirty="0"/>
              <a:t>An AR system may observe the same object from different distances. </a:t>
            </a:r>
            <a:endParaRPr lang="en-IN" sz="2000" dirty="0"/>
          </a:p>
          <a:p>
            <a:pPr lvl="0"/>
            <a:r>
              <a:rPr lang="en-IN" sz="2000" dirty="0"/>
              <a:t>The object's size in the image can change significantly. </a:t>
            </a:r>
            <a:endParaRPr lang="en-IN" sz="2000" dirty="0"/>
          </a:p>
          <a:p>
            <a:pPr lvl="0"/>
            <a:r>
              <a:rPr lang="en-IN" sz="2000" b="1" dirty="0"/>
              <a:t>Scale-invariant features</a:t>
            </a:r>
            <a:r>
              <a:rPr lang="en-IN" sz="2000" dirty="0"/>
              <a:t> help recognize the same object despite size changes. </a:t>
            </a:r>
            <a:endParaRPr lang="en-IN" sz="2000" dirty="0"/>
          </a:p>
          <a:p>
            <a:pPr lvl="0"/>
            <a:r>
              <a:rPr lang="en-IN" sz="2000" dirty="0"/>
              <a:t>Important techniques include: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SIFT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SURF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ORB </a:t>
            </a:r>
            <a:endParaRPr lang="en-IN" sz="2000" dirty="0"/>
          </a:p>
          <a:p>
            <a:pPr lvl="0"/>
            <a:r>
              <a:rPr lang="en-IN" sz="2000" dirty="0"/>
              <a:t>These techniques extract distinctive features from an image. </a:t>
            </a:r>
            <a:endParaRPr lang="en-IN" sz="2000" dirty="0"/>
          </a:p>
          <a:p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A phone-based AR application can recognize a poster whether the user is standing close to it or far away.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5019" y="445949"/>
            <a:ext cx="10058400" cy="960064"/>
          </a:xfrm>
        </p:spPr>
        <p:txBody>
          <a:bodyPr/>
          <a:lstStyle/>
          <a:p>
            <a:r>
              <a:rPr lang="en-IN" b="1" dirty="0"/>
              <a:t>(b) Scale-Invariant Feature Matching</a:t>
            </a:r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26" y="329688"/>
            <a:ext cx="10058400" cy="1007499"/>
          </a:xfrm>
        </p:spPr>
        <p:txBody>
          <a:bodyPr>
            <a:normAutofit/>
          </a:bodyPr>
          <a:lstStyle/>
          <a:p>
            <a:r>
              <a:rPr lang="en-IN" b="1" dirty="0"/>
              <a:t>Feature Matching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26026" y="1148069"/>
            <a:ext cx="11213690" cy="5588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Matching the Same Object Under Different Conditions</a:t>
            </a:r>
            <a:endParaRPr lang="en-IN" sz="20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Feature descriptors represent the detected points. </a:t>
            </a:r>
            <a:endParaRPr lang="en-I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descriptors from the current camera frame are compared with stored/reference features. </a:t>
            </a:r>
            <a:endParaRPr lang="en-I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It can handle changes in: </a:t>
            </a:r>
            <a:endParaRPr lang="en-IN" sz="2000" dirty="0"/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Scale </a:t>
            </a:r>
            <a:endParaRPr lang="en-IN" sz="2000" dirty="0"/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Rotation </a:t>
            </a:r>
            <a:endParaRPr lang="en-IN" sz="2000" dirty="0"/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Viewing angle </a:t>
            </a:r>
            <a:endParaRPr lang="en-IN" sz="2000" dirty="0"/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/>
              <a:t>Moderate lighting changes 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Process: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Reference Image → Feature Extraction → Descriptor → Feature Matching → Object/Location Recognized</a:t>
            </a:r>
            <a:endParaRPr lang="en-IN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277" y="427704"/>
            <a:ext cx="10058400" cy="1371600"/>
          </a:xfrm>
        </p:spPr>
        <p:txBody>
          <a:bodyPr/>
          <a:lstStyle/>
          <a:p>
            <a:pPr>
              <a:buClr>
                <a:schemeClr val="tx1">
                  <a:lumMod val="85000"/>
                  <a:lumOff val="15000"/>
                </a:schemeClr>
              </a:buClr>
            </a:pPr>
            <a:r>
              <a:rPr lang="en-IN" b="1" dirty="0"/>
              <a:t>c) Object Recognition and Tracking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611507"/>
            <a:ext cx="11120284" cy="48187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Object Recognition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Recognizing Real-World Objects</a:t>
            </a:r>
            <a:endParaRPr lang="en-IN" b="1" dirty="0"/>
          </a:p>
          <a:p>
            <a:pPr lvl="0"/>
            <a:r>
              <a:rPr lang="en-IN" dirty="0"/>
              <a:t>Object recognition identifies objects present in the camera view. </a:t>
            </a:r>
            <a:endParaRPr lang="en-IN" dirty="0"/>
          </a:p>
          <a:p>
            <a:pPr lvl="0"/>
            <a:r>
              <a:rPr lang="en-IN" dirty="0"/>
              <a:t>Computer vision extracts visual features from the image. </a:t>
            </a:r>
            <a:endParaRPr lang="en-IN" dirty="0"/>
          </a:p>
          <a:p>
            <a:pPr lvl="0"/>
            <a:r>
              <a:rPr lang="en-IN" dirty="0"/>
              <a:t>The system compares these features with trained/reference objects. </a:t>
            </a:r>
            <a:endParaRPr lang="en-IN" dirty="0"/>
          </a:p>
          <a:p>
            <a:pPr lvl="0"/>
            <a:r>
              <a:rPr lang="en-IN" dirty="0"/>
              <a:t>Modern AR systems can use: </a:t>
            </a:r>
            <a:endParaRPr lang="en-IN" dirty="0"/>
          </a:p>
          <a:p>
            <a:pPr lvl="1"/>
            <a:r>
              <a:rPr lang="en-IN" dirty="0"/>
              <a:t>Feature-based recognition </a:t>
            </a:r>
            <a:endParaRPr lang="en-IN" dirty="0"/>
          </a:p>
          <a:p>
            <a:pPr lvl="1"/>
            <a:r>
              <a:rPr lang="en-IN" dirty="0"/>
              <a:t>Machine learning </a:t>
            </a:r>
            <a:endParaRPr lang="en-IN" dirty="0"/>
          </a:p>
          <a:p>
            <a:pPr lvl="1"/>
            <a:r>
              <a:rPr lang="en-IN" dirty="0"/>
              <a:t>Deep learning </a:t>
            </a:r>
            <a:endParaRPr lang="en-IN" dirty="0"/>
          </a:p>
          <a:p>
            <a:pPr lvl="1"/>
            <a:r>
              <a:rPr lang="en-IN" dirty="0"/>
              <a:t>Object detection models </a:t>
            </a:r>
            <a:endParaRPr lang="en-IN" dirty="0"/>
          </a:p>
          <a:p>
            <a:pPr lvl="0"/>
            <a:r>
              <a:rPr lang="en-IN" dirty="0"/>
              <a:t>Recognition tells the AR application </a:t>
            </a:r>
            <a:r>
              <a:rPr lang="en-IN" b="1" dirty="0"/>
              <a:t>what object is present and where it is located</a:t>
            </a:r>
            <a:r>
              <a:rPr lang="en-IN" dirty="0"/>
              <a:t>. </a:t>
            </a:r>
            <a:endParaRPr lang="en-IN" dirty="0"/>
          </a:p>
          <a:p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An AR educational application recognizes a book and displays additional information above it.</a:t>
            </a:r>
            <a:endParaRPr lang="en-IN" dirty="0"/>
          </a:p>
          <a:p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4347" y="822960"/>
            <a:ext cx="10702413" cy="822412"/>
          </a:xfrm>
        </p:spPr>
        <p:txBody>
          <a:bodyPr>
            <a:normAutofit fontScale="90000"/>
          </a:bodyPr>
          <a:lstStyle/>
          <a:p>
            <a:pPr>
              <a:buClr>
                <a:schemeClr val="tx1">
                  <a:lumMod val="85000"/>
                  <a:lumOff val="15000"/>
                </a:schemeClr>
              </a:buClr>
            </a:pPr>
            <a:r>
              <a:rPr lang="en-IN" b="1" dirty="0"/>
              <a:t>Object Tracking</a:t>
            </a:r>
            <a:br>
              <a:rPr lang="en-IN" b="1" dirty="0"/>
            </a:b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50606" y="1425677"/>
            <a:ext cx="10574594" cy="4906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Continuously Following Objects</a:t>
            </a:r>
            <a:endParaRPr lang="en-IN" sz="2000" b="1" dirty="0"/>
          </a:p>
          <a:p>
            <a:pPr lvl="0"/>
            <a:r>
              <a:rPr lang="en-IN" sz="2000" dirty="0"/>
              <a:t>Recognition identifies an object initially. </a:t>
            </a:r>
            <a:endParaRPr lang="en-IN" sz="2000" dirty="0"/>
          </a:p>
          <a:p>
            <a:pPr lvl="0"/>
            <a:r>
              <a:rPr lang="en-IN" sz="2000" b="1" dirty="0"/>
              <a:t>Tracking</a:t>
            </a:r>
            <a:r>
              <a:rPr lang="en-IN" sz="2000" dirty="0"/>
              <a:t> continuously follows the object across video frames. </a:t>
            </a:r>
            <a:endParaRPr lang="en-IN" sz="2000" dirty="0"/>
          </a:p>
          <a:p>
            <a:pPr lvl="0"/>
            <a:r>
              <a:rPr lang="en-IN" sz="2000" dirty="0"/>
              <a:t>The system detects how the object's position changes. </a:t>
            </a:r>
            <a:endParaRPr lang="en-IN" sz="2000" dirty="0"/>
          </a:p>
          <a:p>
            <a:pPr lvl="0"/>
            <a:r>
              <a:rPr lang="en-IN" sz="2000" dirty="0"/>
              <a:t>Tracking prevents virtual objects from disappearing when the camera moves. </a:t>
            </a:r>
            <a:endParaRPr lang="en-IN" sz="2000" dirty="0"/>
          </a:p>
          <a:p>
            <a:pPr lvl="0"/>
            <a:r>
              <a:rPr lang="en-IN" sz="2000" dirty="0"/>
              <a:t>Common tracking approaches: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Optical flow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Feature tracking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Object trackers </a:t>
            </a:r>
            <a:endParaRPr lang="en-IN" sz="2000" dirty="0"/>
          </a:p>
          <a:p>
            <a:pPr marL="617220" lvl="1" indent="-342900">
              <a:buFont typeface="+mj-lt"/>
              <a:buAutoNum type="arabicPeriod"/>
            </a:pPr>
            <a:r>
              <a:rPr lang="en-IN" sz="2000" dirty="0"/>
              <a:t>Marker tracking 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Flow:</a:t>
            </a:r>
            <a:endParaRPr lang="en-IN" sz="2000" dirty="0"/>
          </a:p>
          <a:p>
            <a:r>
              <a:rPr lang="en-IN" sz="2000" b="1" dirty="0"/>
              <a:t>Frame 1 → Detect Object → Frame 2 → Track Movement → Frame 3 → Update Position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864" y="510786"/>
            <a:ext cx="10058400" cy="1371600"/>
          </a:xfrm>
        </p:spPr>
        <p:txBody>
          <a:bodyPr>
            <a:normAutofit fontScale="90000"/>
          </a:bodyPr>
          <a:lstStyle/>
          <a:p>
            <a:pPr>
              <a:buClr>
                <a:schemeClr val="tx1">
                  <a:lumMod val="85000"/>
                  <a:lumOff val="15000"/>
                </a:schemeClr>
              </a:buClr>
            </a:pPr>
            <a:r>
              <a:rPr lang="en-IN" b="1" dirty="0"/>
              <a:t>(d) Motion Estimation and Camera Pose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155" y="1729494"/>
            <a:ext cx="10058400" cy="3931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Motion Estimation</a:t>
            </a:r>
            <a:endParaRPr lang="en-IN" sz="2000" b="1" dirty="0"/>
          </a:p>
          <a:p>
            <a:r>
              <a:rPr lang="en-IN" sz="2000" b="1" dirty="0"/>
              <a:t>Estimating Camera Movement</a:t>
            </a:r>
            <a:endParaRPr lang="en-IN" sz="2000" b="1" dirty="0"/>
          </a:p>
          <a:p>
            <a:pPr lvl="0"/>
            <a:r>
              <a:rPr lang="en-IN" sz="2000" dirty="0"/>
              <a:t>AR needs to understand how the camera moves through the environment. </a:t>
            </a:r>
            <a:endParaRPr lang="en-IN" sz="2000" dirty="0"/>
          </a:p>
          <a:p>
            <a:pPr lvl="0"/>
            <a:r>
              <a:rPr lang="en-IN" sz="2000" b="1" dirty="0"/>
              <a:t>Motion estimation</a:t>
            </a:r>
            <a:r>
              <a:rPr lang="en-IN" sz="2000" dirty="0"/>
              <a:t> calculates the change between consecutive frames. </a:t>
            </a:r>
            <a:endParaRPr lang="en-IN" sz="2000" dirty="0"/>
          </a:p>
          <a:p>
            <a:pPr lvl="0"/>
            <a:r>
              <a:rPr lang="en-IN" sz="2000" dirty="0"/>
              <a:t>It uses visual features to determine: </a:t>
            </a:r>
            <a:endParaRPr lang="en-IN" sz="2000" dirty="0"/>
          </a:p>
          <a:p>
            <a:pPr lvl="1"/>
            <a:r>
              <a:rPr lang="en-IN" sz="2000" dirty="0"/>
              <a:t>Camera movement </a:t>
            </a:r>
            <a:endParaRPr lang="en-IN" sz="2000" dirty="0"/>
          </a:p>
          <a:p>
            <a:pPr lvl="1"/>
            <a:r>
              <a:rPr lang="en-IN" sz="2000" dirty="0"/>
              <a:t>Direction of movement </a:t>
            </a:r>
            <a:endParaRPr lang="en-IN" sz="2000" dirty="0"/>
          </a:p>
          <a:p>
            <a:pPr lvl="1"/>
            <a:r>
              <a:rPr lang="en-IN" sz="2000" dirty="0"/>
              <a:t>Relative displacement </a:t>
            </a:r>
            <a:endParaRPr lang="en-IN" sz="2000" dirty="0"/>
          </a:p>
          <a:p>
            <a:pPr lvl="0"/>
            <a:r>
              <a:rPr lang="en-IN" sz="2000" dirty="0"/>
              <a:t>Feature points are compared between frames to estimate motion. 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When the user moves the phone to the right, the AR system detects this movement and updates the virtual object's position.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81" y="321571"/>
            <a:ext cx="10564761" cy="999393"/>
          </a:xfrm>
        </p:spPr>
        <p:txBody>
          <a:bodyPr/>
          <a:lstStyle/>
          <a:p>
            <a:r>
              <a:rPr lang="en-IN" dirty="0"/>
              <a:t>Camera Pose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59" y="1304741"/>
            <a:ext cx="10495935" cy="42160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Determining Camera Position and Orientation</a:t>
            </a:r>
            <a:endParaRPr lang="en-IN" sz="2000" b="1" dirty="0"/>
          </a:p>
          <a:p>
            <a:r>
              <a:rPr lang="en-IN" sz="2000" dirty="0"/>
              <a:t>Camera pose describes:</a:t>
            </a:r>
            <a:endParaRPr lang="en-IN" sz="2000" dirty="0"/>
          </a:p>
          <a:p>
            <a:pPr marL="0" lvl="0" indent="0">
              <a:buNone/>
            </a:pPr>
            <a:r>
              <a:rPr lang="en-IN" sz="2000" b="1" dirty="0"/>
              <a:t>      Position</a:t>
            </a:r>
            <a:r>
              <a:rPr lang="en-IN" sz="2000" dirty="0"/>
              <a:t> — where the camera is located. </a:t>
            </a:r>
            <a:endParaRPr lang="en-IN" sz="2000" dirty="0"/>
          </a:p>
          <a:p>
            <a:pPr marL="0" lvl="0" indent="0">
              <a:buNone/>
            </a:pPr>
            <a:r>
              <a:rPr lang="en-IN" sz="2000" b="1" dirty="0"/>
              <a:t>      Orientation</a:t>
            </a:r>
            <a:r>
              <a:rPr lang="en-IN" sz="2000" dirty="0"/>
              <a:t> — the direction in which the camera is looking. </a:t>
            </a:r>
            <a:endParaRPr lang="en-IN" sz="2000" dirty="0"/>
          </a:p>
          <a:p>
            <a:r>
              <a:rPr lang="en-IN" sz="2000" dirty="0"/>
              <a:t>Computer vision estimates camera pose using:</a:t>
            </a:r>
            <a:endParaRPr lang="en-IN" sz="2000" dirty="0"/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Feature points </a:t>
            </a:r>
            <a:endParaRPr lang="en-IN" sz="2000" dirty="0"/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Corresponding points between images </a:t>
            </a:r>
            <a:endParaRPr lang="en-IN" sz="2000" dirty="0"/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Camera calibration </a:t>
            </a:r>
            <a:endParaRPr lang="en-IN" sz="2000" dirty="0"/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Geometric transformations </a:t>
            </a:r>
            <a:endParaRPr lang="en-IN" sz="2000" dirty="0"/>
          </a:p>
          <a:p>
            <a:r>
              <a:rPr lang="en-IN" sz="2000" b="1" dirty="0"/>
              <a:t>Camera Pose → Position + Rotation</a:t>
            </a:r>
            <a:endParaRPr lang="en-IN" sz="2000" dirty="0"/>
          </a:p>
          <a:p>
            <a:r>
              <a:rPr lang="en-IN" sz="2000" b="1" dirty="0"/>
              <a:t>AR Benefit:</a:t>
            </a:r>
            <a:br>
              <a:rPr lang="en-IN" sz="2000" dirty="0"/>
            </a:br>
            <a:r>
              <a:rPr lang="en-IN" sz="2000" dirty="0"/>
              <a:t>Correct camera-pose estimation keeps virtual objects aligned with the real environment even when the user moves around.</a:t>
            </a:r>
            <a:endParaRPr lang="en-IN" sz="2000" dirty="0"/>
          </a:p>
          <a:p>
            <a:endParaRPr lang="en-IN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691" y="259136"/>
            <a:ext cx="10058400" cy="1371600"/>
          </a:xfrm>
        </p:spPr>
        <p:txBody>
          <a:bodyPr/>
          <a:lstStyle/>
          <a:p>
            <a:r>
              <a:rPr lang="en-IN" b="1" dirty="0"/>
              <a:t>(e) Real-Time OpenCV Processing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5" y="1365701"/>
            <a:ext cx="10977714" cy="5920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Real-Time AR Processing Using OpenCV</a:t>
            </a:r>
            <a:endParaRPr lang="en-IN" sz="2000" b="1" dirty="0"/>
          </a:p>
          <a:p>
            <a:pPr lvl="0"/>
            <a:r>
              <a:rPr lang="en-IN" sz="2000" dirty="0"/>
              <a:t>OpenCV provides tools for processing camera frames in real time. </a:t>
            </a:r>
            <a:endParaRPr lang="en-IN" sz="2000" dirty="0"/>
          </a:p>
          <a:p>
            <a:pPr lvl="0"/>
            <a:r>
              <a:rPr lang="en-IN" sz="2000" dirty="0"/>
              <a:t>A continuous video stream is captured from the camera. </a:t>
            </a:r>
            <a:endParaRPr lang="en-IN" sz="2000" dirty="0"/>
          </a:p>
          <a:p>
            <a:pPr lvl="0"/>
            <a:r>
              <a:rPr lang="en-IN" sz="2000" dirty="0"/>
              <a:t>Each frame is processed to detect features, objects, and movement. </a:t>
            </a:r>
            <a:endParaRPr lang="en-IN" sz="2000" dirty="0"/>
          </a:p>
          <a:p>
            <a:pPr lvl="0"/>
            <a:r>
              <a:rPr lang="en-IN" sz="2000" dirty="0"/>
              <a:t>OpenCV can perform: </a:t>
            </a:r>
            <a:endParaRPr lang="en-IN" sz="2000" dirty="0"/>
          </a:p>
          <a:p>
            <a:pPr lvl="1"/>
            <a:r>
              <a:rPr lang="en-IN" sz="2000" dirty="0"/>
              <a:t>Image preprocessing </a:t>
            </a:r>
            <a:endParaRPr lang="en-IN" sz="2000" dirty="0"/>
          </a:p>
          <a:p>
            <a:pPr lvl="1"/>
            <a:r>
              <a:rPr lang="en-IN" sz="2000" dirty="0"/>
              <a:t>Feature detection </a:t>
            </a:r>
            <a:endParaRPr lang="en-IN" sz="2000" dirty="0"/>
          </a:p>
          <a:p>
            <a:pPr lvl="1"/>
            <a:r>
              <a:rPr lang="en-IN" sz="2000" dirty="0"/>
              <a:t>Feature matching </a:t>
            </a:r>
            <a:endParaRPr lang="en-IN" sz="2000" dirty="0"/>
          </a:p>
          <a:p>
            <a:pPr lvl="1"/>
            <a:r>
              <a:rPr lang="en-IN" sz="2000" dirty="0"/>
              <a:t>Object tracking </a:t>
            </a:r>
            <a:endParaRPr lang="en-IN" sz="2000" dirty="0"/>
          </a:p>
          <a:p>
            <a:pPr lvl="1"/>
            <a:r>
              <a:rPr lang="en-IN" sz="2000" dirty="0"/>
              <a:t>Motion estimation 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Real-Time Pipeline:</a:t>
            </a:r>
            <a:endParaRPr lang="en-IN" sz="2000" dirty="0"/>
          </a:p>
          <a:p>
            <a:r>
              <a:rPr lang="en-IN" sz="2000" b="1" dirty="0"/>
              <a:t>Camera → Frame Capture → Preprocessing → Feature Detection → Tracking → Pose Estimation → Virtual Overlay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9" y="378542"/>
            <a:ext cx="10058400" cy="1371600"/>
          </a:xfrm>
        </p:spPr>
        <p:txBody>
          <a:bodyPr/>
          <a:lstStyle/>
          <a:p>
            <a:r>
              <a:rPr lang="en-IN" dirty="0"/>
              <a:t>Placing and Maintaining Virtual 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552514"/>
            <a:ext cx="10913806" cy="47892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Accurate Virtual Object Placement</a:t>
            </a:r>
            <a:endParaRPr lang="en-IN" sz="2000" b="1" dirty="0"/>
          </a:p>
          <a:p>
            <a:pPr lvl="0"/>
            <a:r>
              <a:rPr lang="en-IN" sz="2000" dirty="0"/>
              <a:t>The AR system combines information from all computer vision stages. </a:t>
            </a:r>
            <a:endParaRPr lang="en-IN" sz="2000" dirty="0"/>
          </a:p>
          <a:p>
            <a:pPr lvl="0"/>
            <a:r>
              <a:rPr lang="en-IN" sz="2000" dirty="0"/>
              <a:t>Camera pose determines where the virtual object should appear. </a:t>
            </a:r>
            <a:endParaRPr lang="en-IN" sz="2000" dirty="0"/>
          </a:p>
          <a:p>
            <a:pPr lvl="0"/>
            <a:r>
              <a:rPr lang="en-IN" sz="2000" dirty="0"/>
              <a:t>Tracking continuously updates its position. </a:t>
            </a:r>
            <a:endParaRPr lang="en-IN" sz="2000" dirty="0"/>
          </a:p>
          <a:p>
            <a:pPr lvl="0"/>
            <a:r>
              <a:rPr lang="en-IN" sz="2000" dirty="0"/>
              <a:t>Perspective transformations make the virtual object appear correctly aligned. </a:t>
            </a:r>
            <a:endParaRPr lang="en-IN" sz="2000" dirty="0"/>
          </a:p>
          <a:p>
            <a:pPr lvl="0"/>
            <a:r>
              <a:rPr lang="en-IN" sz="2000" dirty="0"/>
              <a:t>As the camera moves, the virtual content remains attached to the real-world location. 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Real-Time AR System</a:t>
            </a:r>
            <a:endParaRPr lang="en-IN" sz="2000" b="1" dirty="0"/>
          </a:p>
          <a:p>
            <a:r>
              <a:rPr lang="en-IN" sz="2000" b="1" dirty="0"/>
              <a:t>Real World → Camera → OpenCV Processing → Environment Understanding → Camera Pose → Virtual Object Placement → Continuous Tracking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In an AR interior-design application, a virtual chair can be placed on the floor and remain in the same position while the user moves the camera around it.</a:t>
            </a:r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6156</Words>
  <Application>WPS Presentation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Garamond</vt:lpstr>
      <vt:lpstr>Times New Roman</vt:lpstr>
      <vt:lpstr>Courier New</vt:lpstr>
      <vt:lpstr>Microsoft YaHei</vt:lpstr>
      <vt:lpstr>Arial Unicode MS</vt:lpstr>
      <vt:lpstr>Calibri</vt:lpstr>
      <vt:lpstr>Savon</vt:lpstr>
      <vt:lpstr>Augmented Reality Using Computer Vision</vt:lpstr>
      <vt:lpstr>PowerPoint 演示文稿</vt:lpstr>
      <vt:lpstr>(a) Image Preprocessing &amp; Feature Detection</vt:lpstr>
      <vt:lpstr>PowerPoint 演示文稿</vt:lpstr>
      <vt:lpstr>(b) Scale-Invariant Feature Matching</vt:lpstr>
      <vt:lpstr>Feature Matching</vt:lpstr>
      <vt:lpstr>c) Object Recognition and Tracking</vt:lpstr>
      <vt:lpstr>Object Tracking </vt:lpstr>
      <vt:lpstr>(d) Motion Estimation and Camera Pose</vt:lpstr>
      <vt:lpstr>Camera Pose Analysis</vt:lpstr>
      <vt:lpstr>(e) Real-Time OpenCV Processing</vt:lpstr>
      <vt:lpstr>Placing and Maintaining Virtual Objects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varshinikaiguri@gmail.com</dc:creator>
  <cp:lastModifiedBy>VARSHINI</cp:lastModifiedBy>
  <cp:revision>5</cp:revision>
  <dcterms:created xsi:type="dcterms:W3CDTF">2026-08-29T04:49:00Z</dcterms:created>
  <dcterms:modified xsi:type="dcterms:W3CDTF">2026-10-09T04:05:49Z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92D6E62784A847BFA956D515FA1E013D_12</vt:lpwstr>
  </property>
  <property fmtid="{D5CDD505-2E9C-101B-9397-08002B2CF9AE}" pid="3" name="KSOProductBuildVer">
    <vt:lpwstr>1033-12.1.0.28485</vt:lpwstr>
  </property>
</Properties>
</file>